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945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</a:rPr>
              <a:t>Time to First Fill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32004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Generated: 09-Jul-2026 03:17 PM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Filters Applied: Period: Specific Month(s) · Months: March 2025, April 2025, June 2025 ...5+ · Region: All · Territory: All · State: All · Payer: All · Primary Parent: All · Patient Type: All · Specialist: All · Status: All · Diagnosis Code: All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</a:rPr>
              <a:t>Key Performance Indicators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514344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76200" tIns="76200" rIns="76200" bIns="7620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A6B7F"/>
                </a:solidFill>
              </a:rPr>
              <a:t>AVG TTFF</a:t>
            </a:r>
            <a:endParaRPr lang="en-US" sz="10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10 days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337304" y="1005840"/>
            <a:ext cx="3514344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76200" tIns="76200" rIns="76200" bIns="7620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A6B7F"/>
                </a:solidFill>
              </a:rPr>
              <a:t>MEDIAN TTFF</a:t>
            </a:r>
            <a:endParaRPr lang="en-US" sz="10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9 days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125968" y="1005840"/>
            <a:ext cx="3514344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76200" tIns="76200" rIns="76200" bIns="7620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A6B7F"/>
                </a:solidFill>
              </a:rPr>
              <a:t>FILLED &lt;=15 DAYS</a:t>
            </a:r>
            <a:endParaRPr lang="en-US" sz="10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79.9%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2560320"/>
            <a:ext cx="3514344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76200" tIns="76200" rIns="76200" bIns="7620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A6B7F"/>
                </a:solidFill>
              </a:rPr>
              <a:t>PATIENTS &gt;45 DAYS</a:t>
            </a:r>
            <a:endParaRPr lang="en-US" sz="10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87750"/>
            <a:ext cx="11091672" cy="4682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078"/>
            <a:ext cx="11091672" cy="438984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</a:rPr>
              <a:t>Time To First Fill By Payer</a:t>
            </a:r>
            <a:endParaRPr lang="en-US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11091672" cy="914400"/>
        </p:xfrm>
        <a:graphic>
          <a:graphicData uri="http://schemas.openxmlformats.org/drawingml/2006/table">
            <a:tbl>
              <a:tblPr/>
              <a:tblGrid>
                <a:gridCol w="2218334"/>
                <a:gridCol w="2218334"/>
                <a:gridCol w="2218334"/>
                <a:gridCol w="2218334"/>
                <a:gridCol w="221833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Payer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Patients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Avg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TTFF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Median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TTFF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%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&lt;=15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Days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UNSPECIFIED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33.33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TRICARE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100.00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Third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Party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252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40.48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Medicaid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37.50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Assistance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Other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28.57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Medicare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Part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28.57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Medicare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Advantage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Medicare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159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40.88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Medicaid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39.72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Managed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Medicaid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Health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Exchange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COMMERCIAL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31.33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20.00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Assistance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Program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50.00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</a:rPr>
              <a:t>Time To First Fill By Territory</a:t>
            </a:r>
            <a:endParaRPr lang="en-US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11091672" cy="914400"/>
        </p:xfrm>
        <a:graphic>
          <a:graphicData uri="http://schemas.openxmlformats.org/drawingml/2006/table">
            <a:tbl>
              <a:tblPr/>
              <a:tblGrid>
                <a:gridCol w="2218334"/>
                <a:gridCol w="2218334"/>
                <a:gridCol w="2218334"/>
                <a:gridCol w="2218334"/>
                <a:gridCol w="221833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Territory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Patients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Avg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TTFF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Median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TTFF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%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&lt;=15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Days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EMD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37.50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EMD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Upper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39.29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EMD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Upper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Midwest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30.95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EMD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41.86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EMD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Central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41.38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EMD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Northwest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32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37.50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EMD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North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Central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35.48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EMD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N.Florida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37.21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EMD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New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England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29.63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EMD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Mountain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50.00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EMD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Mid-West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46.81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EMD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Mid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Atlantic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23.33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EMD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Gulf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37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37.84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EMD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Florida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39.39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EMD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45.71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2026-07-09T09:47:06Z</dcterms:created>
  <dcterms:modified xsi:type="dcterms:W3CDTF">2026-07-09T09:47:06Z</dcterms:modified>
</cp:coreProperties>
</file>